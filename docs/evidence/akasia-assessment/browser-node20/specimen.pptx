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3" Type="http://schemas.openxmlformats.org/officeDocument/2006/relationships/tags" Target="../tags/opfHeadin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Heading4" Type="http://schemas.openxmlformats.org/officeDocument/2006/relationships/tags" Target="../tags/opfHeadin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Akasia open font candidate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OpfHeading2"/>
            </p:custDataLst>
          </p:nvPr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Latin, Greek and Cyrillic specimens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548640" y="181634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Office AVATAR Toffee affine 0123456789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685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Καλημέρα κόσμε Ελληνικά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39737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Привет мир Кириллица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52468" y="2687883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Á ä ố ñ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55840" y="297839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∑ √ ∞ ≠ ≤ ≥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Complete quote and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kasia SemiBold" pitchFamily="34" charset="0"/>
                <a:ea typeface="Akasia SemiBold" pitchFamily="34" charset="-122"/>
                <a:cs typeface="Akasia SemiBold" pitchFamily="34" charset="-120"/>
              </a:rPr>
              <a:t>"Open files make exact selection, independent inspection and offline rendering possible.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kasia SemiBold" pitchFamily="34" charset="0"/>
                <a:ea typeface="Akasia SemiBold" pitchFamily="34" charset="-122"/>
                <a:cs typeface="Akasia SemiBold" pitchFamily="34" charset="-120"/>
              </a:rPr>
              <a:t>Matching advances alone does not establish visual or native compatibility."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OPF font evaluation - Open-file browser specimen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Recorded scope</a:t>
            </a:r>
            <a:endParaRPr lang="en-US" sz="4050" dirty="0"/>
          </a:p>
        </p:txBody>
      </p:sp>
      <p:sp>
        <p:nvSpPr>
          <p:cNvPr id="3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1404747"/>
            <a:ext cx="792435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Akasia ExtraBold" pitchFamily="34" charset="0"/>
                <a:ea typeface="Akasia ExtraBold" pitchFamily="34" charset="-122"/>
                <a:cs typeface="Akasia ExtraBold" pitchFamily="34" charset="-120"/>
              </a:rPr>
              <a:t>12</a:t>
            </a:r>
            <a:endParaRPr lang="en-US" sz="5700" dirty="0"/>
          </a:p>
        </p:txBody>
      </p:sp>
      <p:sp>
        <p:nvSpPr>
          <p:cNvPr id="4" name="OPF metric 1 unit line 1"/>
          <p:cNvSpPr/>
          <p:nvPr>
            <p:custDataLst>
              <p:tags r:id="rIdOpfMetric2"/>
            </p:custDataLst>
          </p:nvPr>
        </p:nvSpPr>
        <p:spPr>
          <a:xfrm>
            <a:off x="1417275" y="1909572"/>
            <a:ext cx="571872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styles</a:t>
            </a:r>
            <a:endParaRPr lang="en-US" sz="1725" dirty="0"/>
          </a:p>
        </p:txBody>
      </p:sp>
      <p:sp>
        <p:nvSpPr>
          <p:cNvPr id="5" name="OPF metric 1 label line 1"/>
          <p:cNvSpPr/>
          <p:nvPr>
            <p:custDataLst>
              <p:tags r:id="rIdOpfMetric3"/>
            </p:custDataLst>
          </p:nvPr>
        </p:nvSpPr>
        <p:spPr>
          <a:xfrm>
            <a:off x="548640" y="2402205"/>
            <a:ext cx="543306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Open release files</a:t>
            </a:r>
            <a:endParaRPr lang="en-US" sz="1725" dirty="0"/>
          </a:p>
        </p:txBody>
      </p:sp>
      <p:sp>
        <p:nvSpPr>
          <p:cNvPr id="6" name="OPF metric 1 description line 1"/>
          <p:cNvSpPr/>
          <p:nvPr>
            <p:custDataLst>
              <p:tags r:id="rIdOpfMetric4"/>
            </p:custDataLst>
          </p:nvPr>
        </p:nvSpPr>
        <p:spPr>
          <a:xfrm>
            <a:off x="548640" y="2751612"/>
            <a:ext cx="543306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kasia" pitchFamily="34" charset="0"/>
                <a:ea typeface="Akasia" pitchFamily="34" charset="-122"/>
                <a:cs typeface="Akasia" pitchFamily="34" charset="-120"/>
              </a:rPr>
              <a:t>No Aptos equivalence claim</a:t>
            </a:r>
            <a:endParaRPr lang="en-US" sz="1500" dirty="0"/>
          </a:p>
        </p:txBody>
      </p:sp>
      <p:graphicFrame>
        <p:nvGraphicFramePr>
          <p:cNvPr id="7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300" y="1404747"/>
          <a:ext cx="5433060" cy="2057400"/>
        </p:xfrm>
        <a:graphic>
          <a:graphicData uri="http://schemas.openxmlformats.org/drawingml/2006/table">
            <a:tbl>
              <a:tblPr firstRow="1"/>
              <a:tblGrid>
                <a:gridCol w="2716530"/>
                <a:gridCol w="271653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Test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Scope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Advances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Public upstream metric data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Scripts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Selected Latin / Greek / Cyrillic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Native Office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Akasia" pitchFamily="34" charset="0"/>
                          <a:ea typeface="Akasia" pitchFamily="34" charset="-122"/>
                          <a:cs typeface="Akasia" pitchFamily="34" charset="-120"/>
                        </a:rPr>
                        <a:t>Still unverified</a:t>
                      </a:r>
                      <a:endParaRPr lang="en-US" sz="1125" dirty="0">
                        <a:latin typeface="Akasia" charset="0"/>
                        <a:ea typeface="Akasia" charset="0"/>
                        <a:cs typeface="Akasia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opfHeading4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31322C22756E6974223A227374796C6573222C226C6162656C223A224F70656E2072656C656173652066696C6573222C226465736372697074696F6E223A224E6F204170746F73206571756976616C656E636520636C61696D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62C226E6578745374617274223A362C22626F756E64617279223A22656E64227D5D7D2C7B22726F6C65223A226C6162656C222C2276697369626C65223A747275652C226C696E6573223A5B7B227374617274223A302C22656E64223A31382C226E6578745374617274223A31382C22626F756E64617279223A22656E64227D5D7D2C7B22726F6C65223A226465736372697074696F6E222C2276697369626C65223A747275652C226C696E6573223A5B7B227374617274223A302C22656E64223A32362C226E6578745374617274223A3236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Metric3.xml><?xml version="1.0" encoding="utf-8"?>
<p:tagLst xmlns:p="http://schemas.openxmlformats.org/presentationml/2006/main">
  <p:tag name="OPF_METRIC_V1" val="7B2276223A312C2267726F7570223A2231222C22726F6C65223A226C696E65222C2270617274223A322C226C696E65223A307D"/>
</p:tagLst>
</file>

<file path=ppt/tags/opfMetric4.xml><?xml version="1.0" encoding="utf-8"?>
<p:tagLst xmlns:p="http://schemas.openxmlformats.org/presentationml/2006/main">
  <p:tag name="OPF_METRIC_V1" val="7B2276223A312C2267726F7570223A2231222C22726F6C65223A226C696E65222C2270617274223A33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kas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kas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Akasia open-file assessment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