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Sheet1!$A$2:$A$4</cx:f>
        <cx:lvl ptCount="3">
          <cx:pt idx="0">Q1</cx:pt>
          <cx:pt idx="1">Q2</cx:pt>
          <cx:pt idx="2">Q3</cx:pt>
        </cx:lvl>
      </cx:strDim>
      <cx:numDim type="val">
        <cx:f>Sheet1!$B$2:$B$4</cx:f>
        <cx:lvl ptCount="3" formatCode="General">
          <cx:pt idx="0">4</cx:pt>
          <cx:pt idx="1">5</cx:pt>
          <cx:pt idx="2">6</cx:pt>
        </cx:lvl>
      </cx:numDim>
    </cx:data>
  </cx:chartData>
  <cx:chart>
    <cx:plotArea>
      <cx:plotAreaRegion>
        <cx:series layoutId="clusteredColumn" uniqueId="{1017E78B-C56B-4AC5-81BD-9882FD4B9882}">
          <cx:tx>
            <cx:txData>
              <cx:f>Sheet1!$B$1</cx:f>
              <cx:v>North</cx:v>
            </cx:txData>
          </cx:tx>
          <cx:spPr>
            <a:solidFill>
              <a:srgbClr val="2874A6"/>
            </a:solidFill>
          </cx:spPr>
          <cx:dataId val="0"/>
          <cx:layoutPr>
            <cx:aggregation/>
          </cx:layoutPr>
          <cx:axisId val="0"/>
          <cx:axisId val="1"/>
        </cx:series>
        <cx:series layoutId="paretoLine" ownerIdx="0" uniqueId="{05F63654-CECA-490E-82C1-74FCE25C74FC}">
          <cx:spPr>
            <a:ln w="19050">
              <a:solidFill>
                <a:srgbClr val="89B4DC"/>
              </a:solidFill>
            </a:ln>
          </cx:spPr>
          <cx:axisId val="0"/>
          <cx:axisId val="2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2">
        <cx:valScaling max="1" min="0"/>
        <cx:units unit="percentage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pareto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