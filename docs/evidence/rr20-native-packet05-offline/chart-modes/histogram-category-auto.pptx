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Ex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Sheet1!$A$2:$A$5</cx:f>
        <cx:lvl ptCount="4">
          <cx:pt idx="0">North</cx:pt>
          <cx:pt idx="1">South</cx:pt>
          <cx:pt idx="2">East</cx:pt>
          <cx:pt idx="3">West</cx:pt>
        </cx:lvl>
      </cx:strDim>
      <cx:numDim type="val">
        <cx:f>Sheet1!$B$2:$B$5</cx:f>
        <cx:lvl ptCount="4" formatCode="General">
          <cx:pt idx="0">42</cx:pt>
          <cx:pt idx="1">31</cx:pt>
          <cx:pt idx="2">-8</cx:pt>
          <cx:pt idx="3">19</cx:pt>
        </cx:lvl>
      </cx:numDim>
    </cx:data>
  </cx:chartData>
  <cx:chart>
    <cx:plotArea>
      <cx:plotAreaRegion>
        <cx:series layoutId="clusteredColumn" uniqueId="{1017E78B-C56B-4AC5-81BD-9882FD4B9882}">
          <cx:tx>
            <cx:txData>
              <cx:f>Sheet1!$B$1</cx:f>
              <cx:v>Value</cx:v>
            </cx:txData>
          </cx:tx>
          <cx:spPr>
            <a:solidFill>
              <a:srgbClr val="2874A6"/>
            </a:solidFill>
          </cx:spPr>
          <cx:dataId val="0"/>
          <cx:layoutPr>
            <cx:aggregation/>
          </cx:layoutPr>
          <cx:axisId val="0"/>
          <cx:axisId val="1"/>
        </cx:series>
      </cx:plotAreaRegion>
      <cx:axis id="0">
        <cx:catScaling gapWidth="0.06"/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  <cx:axis id="1">
        <cx:valScaling/>
        <cx:majorGridlines>
          <cx:spPr>
            <a:ln w="9525">
              <a:solidFill>
                <a:srgbClr val="3AC67A">
                  <a:alpha val="70000"/>
                </a:srgbClr>
              </a:solidFill>
            </a:ln>
          </cx:spPr>
        </cx:majorGridlines>
        <cx:tickLabels/>
        <cx:txPr>
          <a:bodyPr/>
          <a:lstStyle/>
          <a:p>
            <a:pPr>
              <a:defRPr sz="12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x:txPr>
      </cx:axis>
    </cx:plotArea>
  </cx:chart>
  <cx:spPr>
    <a:solidFill>
      <a:srgbClr val="011842"/>
    </a:solidFill>
    <a:ln>
      <a:noFill/>
    </a:ln>
  </cx:spPr>
  <cx:txPr>
    <a:bodyPr/>
    <a:lstStyle/>
    <a:p>
      <a:pPr>
        <a:defRPr sz="1200">
          <a:solidFill>
            <a:srgbClr val="FFFFFF"/>
          </a:solidFill>
          <a:latin typeface="Aptos"/>
          <a:ea typeface="Aptos"/>
          <a:cs typeface="Aptos"/>
        </a:defRPr>
      </a:pPr>
      <a:endParaRPr lang="en-US"/>
    </a:p>
  </cx:tx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rgbClr val="FFFFFF"/>
    </cs:fontRef>
    <cs:defRPr sz="1000" kern="1200">
      <a:solidFill>
        <a:srgbClr val="FFFFFF"/>
      </a:solidFill>
      <a:latin typeface="Aptos"/>
      <a:ea typeface="Aptos"/>
      <a:cs typeface="Aptos"/>
    </cs:defRPr>
  </cs:axisTitle>
  <cs:category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ategoryAxis>
  <cs:chartArea mods="allowNoFillOverride allowNoLineOverride">
    <cs:lnRef idx="0"/>
    <cs:fillRef idx="0"/>
    <cs:effectRef idx="0"/>
    <cs:fontRef idx="minor">
      <a:srgbClr val="FFFFFF"/>
    </cs:fontRef>
    <cs:spPr>
      <a:solidFill>
        <a:schemeClr val="bg1"/>
      </a:solidFill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chartArea>
  <cs:data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>
  <cs:dataLabelCallout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LabelCallout>
  <cs:dataPoint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3D>
  <cs:dataPoint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ataPointMarker>
  <cs:dataPointMarkerLayout symbol="circle" size="5"/>
  <cs:dataPointWireframe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dataPointWireframe>
  <cs:dataTable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dataTable>
  <cs:downBar>
    <cs:lnRef idx="0"/>
    <cs:fillRef idx="1"/>
    <cs:effectRef idx="0"/>
    <cs:fontRef idx="minor">
      <a:srgbClr val="FFFFFF"/>
    </cs:fontRef>
    <cs:spPr>
      <a:solidFill>
        <a:schemeClr val="dk1">
          <a:lumMod val="65000"/>
          <a:lumOff val="35000"/>
        </a:schemeClr>
      </a:solidFill>
    </cs:spPr>
  </cs:downBar>
  <cs:drop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dropLine>
  <cs:errorBar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errorBar>
  <cs:floo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floor>
  <cs:gridlineMaj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ajor>
  <cs:gridlineMinor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</cs:gridlineMinor>
  <cs:hiLo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hiLoLine>
  <cs:leader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leaderLine>
  <cs:legend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legend>
  <cs:plotArea>
    <cs:lnRef idx="0"/>
    <cs:fillRef idx="0"/>
    <cs:effectRef idx="0"/>
    <cs:fontRef idx="minor">
      <a:srgbClr val="FFFFFF"/>
    </cs:fontRef>
  </cs:plotArea>
  <cs:plotArea3D>
    <cs:lnRef idx="0"/>
    <cs:fillRef idx="0"/>
    <cs:effectRef idx="0"/>
    <cs:fontRef idx="minor">
      <a:srgbClr val="FFFFFF"/>
    </cs:fontRef>
  </cs:plotArea3D>
  <cs:series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seriesAxis>
  <cs:series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seriesLine>
  <cs:title>
    <cs:lnRef idx="0"/>
    <cs:fillRef idx="0"/>
    <cs:effectRef idx="0"/>
    <cs:fontRef idx="minor">
      <a:srgbClr val="FFFFFF"/>
    </cs:fontRef>
    <cs:defRPr sz="1400" kern="1200">
      <a:solidFill>
        <a:srgbClr val="FFFFFF"/>
      </a:solidFill>
      <a:latin typeface="Aptos"/>
      <a:ea typeface="Aptos"/>
      <a:cs typeface="Aptos"/>
    </cs:defRPr>
  </cs:title>
  <cs:trendline>
    <cs:lnRef idx="0"/>
    <cs:fillRef idx="0">
      <cs:styleClr val="auto"/>
    </cs:fillRef>
    <cs:effectRef idx="0"/>
    <cs:fontRef idx="minor">
      <a:srgbClr val="FFFFFF"/>
    </cs:fontRef>
    <cs:spPr>
      <a:ln w="28575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rgbClr val="FFFFFF"/>
    </cs:fontRef>
    <cs:defRPr sz="1200" kern="1200">
      <a:solidFill>
        <a:srgbClr val="FFFFFF"/>
      </a:solidFill>
      <a:latin typeface="Aptos"/>
      <a:ea typeface="Aptos"/>
      <a:cs typeface="Aptos"/>
    </cs:defRPr>
  </cs:trendlineLabel>
  <cs:upBar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upBar>
  <cs:valueAxis>
    <cs:lnRef idx="0"/>
    <cs:fillRef idx="0"/>
    <cs:effectRef idx="0"/>
    <cs:fontRef idx="minor">
      <a:srgbClr val="FFFFFF"/>
    </cs:fontRef>
    <cs:spPr>
      <a:ln w="9525" cap="flat" cmpd="sng" algn="ctr">
        <a:solidFill>
          <a:srgbClr val="3AC67A">
            <a:alpha val="70000"/>
          </a:srgbClr>
        </a:solidFill>
        <a:round/>
      </a:ln>
    </cs:spPr>
    <cs:defRPr sz="1200" kern="1200">
      <a:solidFill>
        <a:srgbClr val="FFFFFF"/>
      </a:solidFill>
      <a:latin typeface="Aptos"/>
      <a:ea typeface="Aptos"/>
      <a:cs typeface="Aptos"/>
    </cs:defRPr>
  </cs:valueAxis>
  <cs:wall>
    <cs:lnRef idx="0"/>
    <cs:fillRef idx="1">
      <cs:styleClr val="auto"/>
    </cs:fillRef>
    <cs:effectRef idx="0"/>
    <cs:fontRef idx="minor">
      <a:srgbClr val="FFFFFF"/>
    </cs:fontRef>
    <cs:spPr>
      <a:solidFill>
        <a:schemeClr val="phClr"/>
      </a:solidFill>
    </cs:spPr>
  </cs:wall>
</cs:chartStyl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4" Type="http://schemas.microsoft.com/office/2014/relationships/chartEx" Target="../charts/chartEx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3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>
          <p:graphicFrame>
            <p:nvGraphicFramePr>
              <p:cNvPr id="4" name="OPF chart 1"/>
              <p:cNvGraphicFramePr/>
              <p:nvPr/>
            </p:nvGraphicFramePr>
            <p:xfrm>
              <a:off x="548640" y="1404747"/>
              <a:ext cx="11094720" cy="4904613"/>
            </p:xfrm>
            <a:graphic xmlns:a="http://schemas.openxmlformats.org/drawingml/2006/main">
              <a:graphicData uri="http://schemas.openxmlformats.org/drawingml/2006/chart">
                <c:chart xmlns:c="http://schemas.openxmlformats.org/drawingml/2006/chart" r:id="rId1"/>
              </a:graphicData>
            </a:graphic>
          </p:graphicFrame>
        </mc:Fallback>
      </mc:AlternateContent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62303630373430666164616330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