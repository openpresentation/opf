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ptx.galler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OpfHeading4" Type="http://schemas.openxmlformats.org/officeDocument/2006/relationships/tags" Target="../tags/opfHeading4.xml"/><Relationship Id="rIdOpfSlide" Type="http://schemas.openxmlformats.org/officeDocument/2006/relationships/tags" Target="../tags/opf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OpfHeading5" Type="http://schemas.openxmlformats.org/officeDocument/2006/relationships/tags" Target="../tags/opfHeading5.xml"/><Relationship Id="rIdOpfText2" Type="http://schemas.openxmlformats.org/officeDocument/2006/relationships/tags" Target="../tags/opfText2.xml"/><Relationship Id="rIdOpfText3" Type="http://schemas.openxmlformats.org/officeDocument/2006/relationships/tags" Target="../tags/opfText3.xml"/><Relationship Id="rIdOpfSlide" Type="http://schemas.openxmlformats.org/officeDocument/2006/relationships/tags" Target="../tags/opf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OpfHeading6" Type="http://schemas.openxmlformats.org/officeDocument/2006/relationships/tags" Target="../tags/opfHeading6.xml"/><Relationship Id="rIdOpfSlide" Type="http://schemas.openxmlformats.org/officeDocument/2006/relationships/tags" Target="../tags/opf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OpfHeading7" Type="http://schemas.openxmlformats.org/officeDocument/2006/relationships/tags" Target="../tags/opfHeading7.xml"/><Relationship Id="rIdOpfSlide" Type="http://schemas.openxmlformats.org/officeDocument/2006/relationships/tags" Target="../tags/opf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LLM Reference: llmreference.com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57235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ptos" pitchFamily="34" charset="0"/>
              </a:rPr>
              <a:t>A reference site for large language models: models, families, providers, pricing and benchmarks.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6143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What it is</a:t>
            </a:r>
            <a:endParaRPr lang="en-US" sz="4050" dirty="0"/>
          </a:p>
        </p:txBody>
      </p:sp>
      <p:sp>
        <p:nvSpPr>
          <p:cNvPr id="3" name="OPF list slides.1.items line 0"/>
          <p:cNvSpPr/>
          <p:nvPr/>
        </p:nvSpPr>
        <p:spPr>
          <a:xfrm>
            <a:off x="548640" y="14047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Model pages</a:t>
            </a:r>
            <a:endParaRPr lang="en-US" sz="2400" dirty="0"/>
          </a:p>
        </p:txBody>
      </p:sp>
      <p:sp>
        <p:nvSpPr>
          <p:cNvPr id="4" name="OPF list slides.1.items line 1"/>
          <p:cNvSpPr/>
          <p:nvPr/>
        </p:nvSpPr>
        <p:spPr>
          <a:xfrm>
            <a:off x="548640" y="18619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Model family pages</a:t>
            </a:r>
            <a:endParaRPr lang="en-US" sz="2400" dirty="0"/>
          </a:p>
        </p:txBody>
      </p:sp>
      <p:sp>
        <p:nvSpPr>
          <p:cNvPr id="5" name="OPF list slides.1.items line 2"/>
          <p:cNvSpPr/>
          <p:nvPr/>
        </p:nvSpPr>
        <p:spPr>
          <a:xfrm>
            <a:off x="548640" y="23191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Provider and researcher pages</a:t>
            </a:r>
            <a:endParaRPr lang="en-US" sz="2400" dirty="0"/>
          </a:p>
        </p:txBody>
      </p:sp>
      <p:sp>
        <p:nvSpPr>
          <p:cNvPr id="6" name="OPF list slides.1.items line 3"/>
          <p:cNvSpPr/>
          <p:nvPr/>
        </p:nvSpPr>
        <p:spPr>
          <a:xfrm>
            <a:off x="548640" y="27763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/stats data-coverage page</a:t>
            </a:r>
            <a:endParaRPr lang="en-US" sz="2400" dirty="0"/>
          </a:p>
        </p:txBody>
      </p:sp>
      <p:sp>
        <p:nvSpPr>
          <p:cNvPr id="7" name="OPF list slides.1.items line 4"/>
          <p:cNvSpPr/>
          <p:nvPr/>
        </p:nvSpPr>
        <p:spPr>
          <a:xfrm>
            <a:off x="548640" y="32335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/leaderboard</a:t>
            </a:r>
            <a:endParaRPr lang="en-US" sz="2400" dirty="0"/>
          </a:p>
        </p:txBody>
      </p:sp>
      <p:sp>
        <p:nvSpPr>
          <p:cNvPr id="8" name="OPF list slides.1.items line 5"/>
          <p:cNvSpPr/>
          <p:nvPr/>
        </p:nvSpPr>
        <p:spPr>
          <a:xfrm>
            <a:off x="548640" y="36907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/decision-models page</a:t>
            </a:r>
            <a:endParaRPr lang="en-US" sz="2400" dirty="0"/>
          </a:p>
        </p:txBody>
      </p:sp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6143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What model pages show</a:t>
            </a:r>
            <a:endParaRPr lang="en-US" sz="4050" dirty="0"/>
          </a:p>
        </p:txBody>
      </p:sp>
      <p:sp>
        <p:nvSpPr>
          <p:cNvPr id="3" name="OPF list slides.2.items line 0"/>
          <p:cNvSpPr/>
          <p:nvPr/>
        </p:nvSpPr>
        <p:spPr>
          <a:xfrm>
            <a:off x="548640" y="14047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Price from every provider that hosts the model (per-token, and now per-minute for </a:t>
            </a:r>
            <a:endParaRPr lang="en-US" sz="2400" dirty="0"/>
          </a:p>
        </p:txBody>
      </p:sp>
      <p:sp>
        <p:nvSpPr>
          <p:cNvPr id="4" name="OPF list slides.2.items line 1"/>
          <p:cNvSpPr/>
          <p:nvPr/>
        </p:nvSpPr>
        <p:spPr>
          <a:xfrm>
            <a:off x="883920" y="1776603"/>
            <a:ext cx="107594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audio models)</a:t>
            </a:r>
            <a:endParaRPr lang="en-US" sz="2400" dirty="0"/>
          </a:p>
        </p:txBody>
      </p:sp>
      <p:sp>
        <p:nvSpPr>
          <p:cNvPr id="5" name="OPF list slides.2.items line 2"/>
          <p:cNvSpPr/>
          <p:nvPr/>
        </p:nvSpPr>
        <p:spPr>
          <a:xfrm>
            <a:off x="548640" y="223380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Context window</a:t>
            </a:r>
            <a:endParaRPr lang="en-US" sz="2400" dirty="0"/>
          </a:p>
        </p:txBody>
      </p:sp>
      <p:sp>
        <p:nvSpPr>
          <p:cNvPr id="6" name="OPF list slides.2.items line 3"/>
          <p:cNvSpPr/>
          <p:nvPr/>
        </p:nvSpPr>
        <p:spPr>
          <a:xfrm>
            <a:off x="548640" y="269100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License and open-weights status</a:t>
            </a:r>
            <a:endParaRPr lang="en-US" sz="2400" dirty="0"/>
          </a:p>
        </p:txBody>
      </p:sp>
      <p:sp>
        <p:nvSpPr>
          <p:cNvPr id="7" name="OPF list slides.2.items line 4"/>
          <p:cNvSpPr/>
          <p:nvPr/>
        </p:nvSpPr>
        <p:spPr>
          <a:xfrm>
            <a:off x="548640" y="314820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Benchmark scores with sources</a:t>
            </a:r>
            <a:endParaRPr lang="en-US" sz="2400" dirty="0"/>
          </a:p>
        </p:txBody>
      </p:sp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Coverage today (/stats, 2026-10-15)</a:t>
            </a:r>
            <a:endParaRPr lang="en-US" sz="4050" dirty="0"/>
          </a:p>
        </p:txBody>
      </p:sp>
      <p:sp>
        <p:nvSpPr>
          <p:cNvPr id="3" name="OPF list slides.3.items line 0"/>
          <p:cNvSpPr/>
          <p:nvPr/>
        </p:nvSpPr>
        <p:spPr>
          <a:xfrm>
            <a:off x="548640" y="14047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About 1,928 active public models</a:t>
            </a:r>
            <a:endParaRPr lang="en-US" sz="2400" dirty="0"/>
          </a:p>
        </p:txBody>
      </p:sp>
      <p:sp>
        <p:nvSpPr>
          <p:cNvPr id="4" name="OPF list slides.3.items line 1"/>
          <p:cNvSpPr/>
          <p:nvPr/>
        </p:nvSpPr>
        <p:spPr>
          <a:xfrm>
            <a:off x="548640" y="18619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819 models with pricing records</a:t>
            </a:r>
            <a:endParaRPr lang="en-US" sz="2400" dirty="0"/>
          </a:p>
        </p:txBody>
      </p:sp>
      <p:sp>
        <p:nvSpPr>
          <p:cNvPr id="5" name="OPF list slides.3.items line 2"/>
          <p:cNvSpPr/>
          <p:nvPr/>
        </p:nvSpPr>
        <p:spPr>
          <a:xfrm>
            <a:off x="548640" y="23191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373 models with benchmark scores</a:t>
            </a:r>
            <a:endParaRPr lang="en-US" sz="2400" dirty="0"/>
          </a:p>
        </p:txBody>
      </p:sp>
      <p:sp>
        <p:nvSpPr>
          <p:cNvPr id="6" name="OPF list slides.3.items line 3"/>
          <p:cNvSpPr/>
          <p:nvPr/>
        </p:nvSpPr>
        <p:spPr>
          <a:xfrm>
            <a:off x="548640" y="27763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1,700 of 2,005 provider links priced</a:t>
            </a:r>
            <a:endParaRPr lang="en-US" sz="2400" dirty="0"/>
          </a:p>
        </p:txBody>
      </p:sp>
      <p:sp>
        <p:nvSpPr>
          <p:cNvPr id="7" name="OPF list slides.3.items line 4"/>
          <p:cNvSpPr/>
          <p:nvPr/>
        </p:nvSpPr>
        <p:spPr>
          <a:xfrm>
            <a:off x="548640" y="32335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98% of scores have a URL source</a:t>
            </a:r>
            <a:endParaRPr lang="en-US" sz="2400" dirty="0"/>
          </a:p>
        </p:txBody>
      </p:sp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How it ships</a:t>
            </a:r>
            <a:endParaRPr lang="en-US" sz="4050" dirty="0"/>
          </a:p>
        </p:txBody>
      </p:sp>
      <p:sp>
        <p:nvSpPr>
          <p:cNvPr id="3" name="OPF text slides.4.text line 0"/>
          <p:cNvSpPr/>
          <p:nvPr>
            <p:custDataLst>
              <p:tags r:id="rIdOpfText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ptos" pitchFamily="34" charset="0"/>
              </a:rPr>
              <a:t>Daily data-quality and new-model batches go through validation, tests and a build before each deploy to </a:t>
            </a:r>
            <a:endParaRPr lang="en-US" sz="1875" dirty="0"/>
          </a:p>
        </p:txBody>
      </p:sp>
      <p:sp>
        <p:nvSpPr>
          <p:cNvPr id="4" name="OPF text slides.4.text line 1"/>
          <p:cNvSpPr/>
          <p:nvPr>
            <p:custDataLst>
              <p:tags r:id="rIdOpfText3"/>
            </p:custDataLst>
          </p:nvPr>
        </p:nvSpPr>
        <p:spPr>
          <a:xfrm>
            <a:off x="558049" y="169525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ptos" pitchFamily="34" charset="0"/>
              </a:rPr>
              <a:t>Vercel.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Recent additions (October 2026)</a:t>
            </a:r>
            <a:endParaRPr lang="en-US" sz="4050" dirty="0"/>
          </a:p>
        </p:txBody>
      </p:sp>
      <p:sp>
        <p:nvSpPr>
          <p:cNvPr id="3" name="OPF list slides.5.items line 0"/>
          <p:cNvSpPr/>
          <p:nvPr/>
        </p:nvSpPr>
        <p:spPr>
          <a:xfrm>
            <a:off x="548640" y="14047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LFM2.5-24B-A2B</a:t>
            </a:r>
            <a:endParaRPr lang="en-US" sz="2400" dirty="0"/>
          </a:p>
        </p:txBody>
      </p:sp>
      <p:sp>
        <p:nvSpPr>
          <p:cNvPr id="4" name="OPF list slides.5.items line 1"/>
          <p:cNvSpPr/>
          <p:nvPr/>
        </p:nvSpPr>
        <p:spPr>
          <a:xfrm>
            <a:off x="548640" y="18619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Nemotron 3.5 models</a:t>
            </a:r>
            <a:endParaRPr lang="en-US" sz="2400" dirty="0"/>
          </a:p>
        </p:txBody>
      </p:sp>
      <p:sp>
        <p:nvSpPr>
          <p:cNvPr id="5" name="OPF list slides.5.items line 2"/>
          <p:cNvSpPr/>
          <p:nvPr/>
        </p:nvSpPr>
        <p:spPr>
          <a:xfrm>
            <a:off x="548640" y="23191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Grok Voice 2.0/3.0</a:t>
            </a:r>
            <a:endParaRPr lang="en-US" sz="2400" dirty="0"/>
          </a:p>
        </p:txBody>
      </p:sp>
      <p:sp>
        <p:nvSpPr>
          <p:cNvPr id="6" name="OPF list slides.5.items line 3"/>
          <p:cNvSpPr/>
          <p:nvPr/>
        </p:nvSpPr>
        <p:spPr>
          <a:xfrm>
            <a:off x="548640" y="2776347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ptos"/>
              <a:buChar char="•"/>
            </a:pPr>
            <a:r>
              <a:rPr lang="en-US" sz="2400" dirty="0">
                <a:solidFill>
                  <a:schemeClr val="bg1"/>
                </a:solidFill>
                <a:latin typeface="Aptos" pitchFamily="34" charset="0"/>
              </a:rPr>
              <a:t>Step 5 Preview</a:t>
            </a:r>
            <a:endParaRPr lang="en-US" sz="2400" dirty="0"/>
          </a:p>
        </p:txBody>
      </p:sp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3115246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llmreference.com</a:t>
            </a:r>
            <a:endParaRPr lang="en-US" sz="405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72C22616273656E74223A5B2224736368656D61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74657874222C22626F78223A5B35372E362C3134372E352C313136342E382C3531342E395D7D2C226E6174697665223A7B22737472756374757265223A223130336436333963613636306263222C226261636B67726F756E64223A223131336637323562636232336536222C227374796C65223A223031353365646166643362616333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974656D73222C22626F78223A5B35372E362C3134372E352C313136342E382C3531342E395D7D2C226C69737452756E73223A5B5B22736C696465732E312E6974656D73222C7B2274657874223A7B22626F6C64223A66616C73652C22636F6C6F72223A2223464646464646222C22666F6E7453697A65223A32342C22666F6E7446616D696C79223A224170746F73227D7D5D5D2C226E6174697665223A7B22737472756374757265223A223132326139633835623135383561222C226261636B67726F756E64223A223131336637323562636232336536222C227374796C65223A223031353365646166643362616333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974656D73222C22626F78223A5B35372E362C3134372E352C313136342E382C3531342E395D7D2C226C69737452756E73223A5B5B22736C696465732E322E6974656D73222C7B2274657874223A7B22626F6C64223A66616C73652C22636F6C6F72223A2223464646464646222C22666F6E7453697A65223A32342C22666F6E7446616D696C79223A224170746F73227D7D5D5D2C226E6174697665223A7B22737472756374757265223A223066383437613162626639306138222C226261636B67726F756E64223A223131336637323562636232336536222C227374796C65223A223031353365646166643362616333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974656D73222C22626F78223A5B35372E362C3134372E352C313136342E382C3531342E395D7D2C226C69737452756E73223A5B5B22736C696465732E332E6974656D73222C7B2274657874223A7B22626F6C64223A66616C73652C22636F6C6F72223A2223464646464646222C22666F6E7453697A65223A32342C22666F6E7446616D696C79223A224170746F73227D7D5D5D2C226E6174697665223A7B22737472756374757265223A223132313937376362346235316130222C226261636B67726F756E64223A223131336637323562636232336536222C227374796C65223A223031353365646166643362616333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74657874222C22626F78223A5B35372E362C3134372E352C313136342E382C3531342E395D7D2C226E6174697665223A7B22737472756374757265223A223038333238633436653739363137222C226261636B67726F756E64223A223131336637323562636232336536222C227374796C65223A223031353365646166643362616333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974656D73222C22626F78223A5B35372E362C3134372E352C313136342E382C3531342E395D7D2C226C69737452756E73223A5B5B22736C696465732E352E6974656D73222C7B2274657874223A7B22626F6C64223A66616C73652C22636F6C6F72223A2223464646464646222C22666F6E7453697A65223A32342C22666F6E7446616D696C79223A224170746F73227D7D5D5D2C226E6174697665223A7B22737472756374757265223A223138343161373462356435393861222C226261636B67726F756E64223A223131336637323562636232336536222C227374796C65223A223031353365646166643362616333227D7D"/>
</p:tagLst>
</file>

<file path=ppt/tags/opfSlide7.xml><?xml version="1.0" encoding="utf-8"?>
<p:tagLst xmlns:p="http://schemas.openxmlformats.org/presentationml/2006/main">
  <p:tag name="OPF_SLIDE_V1" val="7B2276223A312C22736C696465223A362C226E6174697665223A7B22737472756374757265223A223130616366666166313230643939222C226261636B67726F756E64223A223131336637323562636232336536222C227374796C65223A223065353963323236313665353334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42E74657874222C226C696E65223A302C22636F756E74223A322C22626F756E64617279223A22736F667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42E74657874222C226C696E65223A312C22636F756E74223A322C22626F756E64617279223A22656E64222C22736570617261746F72223A22227D"/>
</p:tagLst>
</file>

<file path=ppt/theme/theme1.xml><?xml version="1.0" encoding="utf-8"?>
<a:theme xmlns:a="http://schemas.openxmlformats.org/drawingml/2006/main" name="pptx.gallery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.gallery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x.gallery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.gallery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pptx.gallery</vt:lpstr>
      <vt:lpstr>pptx.gallery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Reference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